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arcellus"/>
      <p:regular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rcellus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182356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BeRight AI</a:t>
            </a:r>
            <a:endParaRPr b="0" i="0" sz="51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3011448"/>
            <a:ext cx="75564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Intelligence Layer for Prediction Markets</a:t>
            </a:r>
            <a:endParaRPr b="0" i="0" sz="1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3674745"/>
            <a:ext cx="36364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5850"/>
              <a:buFont typeface="Marcellus"/>
              <a:buNone/>
            </a:pPr>
            <a:r>
              <a:rPr b="0" i="0" lang="en-US" sz="5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$18B</a:t>
            </a:r>
            <a:endParaRPr b="0" i="0" sz="585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6468070" y="47065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Monthly Volume</a:t>
            </a:r>
            <a:endParaRPr b="0" i="0" sz="255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6280190" y="5266492"/>
            <a:ext cx="3636407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Current market size</a:t>
            </a:r>
            <a:endParaRPr b="0" i="0" sz="175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10200084" y="3674745"/>
            <a:ext cx="36365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5850"/>
              <a:buFont typeface="Marcellus"/>
              <a:buNone/>
            </a:pPr>
            <a:r>
              <a:rPr b="0" i="0" lang="en-US" sz="5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9x</a:t>
            </a:r>
            <a:endParaRPr b="0" i="0" sz="58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10387965" y="470654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Growth Rate</a:t>
            </a:r>
            <a:endParaRPr b="0" i="0" sz="25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10200084" y="5266492"/>
            <a:ext cx="363652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6 months</a:t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6280190" y="5816441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best forecasters can't prove their skill. Investors can't access their alpha.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fix that.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1295519" y="1026319"/>
            <a:ext cx="6985159" cy="65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900"/>
              <a:buFont typeface="Marcellus"/>
              <a:buNone/>
            </a:pPr>
            <a:r>
              <a:rPr b="0" i="0" lang="en-US" sz="39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Prediction Markets Are Broken</a:t>
            </a:r>
            <a:endParaRPr b="0" i="0" sz="3900" u="none" cap="none" strike="noStrike"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519" y="2030492"/>
            <a:ext cx="7676555" cy="428458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9405223" y="2054543"/>
            <a:ext cx="3937040" cy="1456373"/>
          </a:xfrm>
          <a:prstGeom prst="roundRect">
            <a:avLst>
              <a:gd fmla="val 7534" name="adj"/>
            </a:avLst>
          </a:prstGeom>
          <a:solidFill>
            <a:srgbClr val="FFFFF4">
              <a:alpha val="94901"/>
            </a:srgbClr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9382363" y="2054543"/>
            <a:ext cx="91440" cy="1456373"/>
          </a:xfrm>
          <a:prstGeom prst="roundRect">
            <a:avLst>
              <a:gd fmla="val 8014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9671090" y="2251829"/>
            <a:ext cx="2508171" cy="32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50"/>
              <a:buFont typeface="Marcellus"/>
              <a:buNone/>
            </a:pPr>
            <a:r>
              <a:rPr b="0" i="0" lang="en-US" sz="19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 Track Records</a:t>
            </a:r>
            <a:endParaRPr b="0" i="0" sz="19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9671090" y="2712125"/>
            <a:ext cx="3473887" cy="601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Platforms keep data internal and siloed. Your performance history dies when you leave.</a:t>
            </a:r>
            <a:endParaRPr b="0" i="0" sz="13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9405223" y="3645098"/>
            <a:ext cx="3937040" cy="1255871"/>
          </a:xfrm>
          <a:prstGeom prst="roundRect">
            <a:avLst>
              <a:gd fmla="val 8737" name="adj"/>
            </a:avLst>
          </a:prstGeom>
          <a:solidFill>
            <a:srgbClr val="FFFFF4">
              <a:alpha val="94901"/>
            </a:srgbClr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9382363" y="3645098"/>
            <a:ext cx="91440" cy="1255871"/>
          </a:xfrm>
          <a:prstGeom prst="roundRect">
            <a:avLst>
              <a:gd fmla="val 8014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9671090" y="3842385"/>
            <a:ext cx="2508171" cy="32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50"/>
              <a:buFont typeface="Marcellus"/>
              <a:buNone/>
            </a:pPr>
            <a:r>
              <a:rPr b="0" i="0" lang="en-US" sz="19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 Portability</a:t>
            </a:r>
            <a:endParaRPr b="0" i="0" sz="195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9671090" y="4302681"/>
            <a:ext cx="3473887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Your skill dies on each platform. No way to prove expertise across markets.</a:t>
            </a:r>
            <a:endParaRPr b="0" i="0" sz="135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9405223" y="5035153"/>
            <a:ext cx="3937040" cy="1255871"/>
          </a:xfrm>
          <a:prstGeom prst="roundRect">
            <a:avLst>
              <a:gd fmla="val 8737" name="adj"/>
            </a:avLst>
          </a:prstGeom>
          <a:solidFill>
            <a:srgbClr val="FFFFF4">
              <a:alpha val="94901"/>
            </a:srgbClr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9382363" y="5035153"/>
            <a:ext cx="91440" cy="1255871"/>
          </a:xfrm>
          <a:prstGeom prst="roundRect">
            <a:avLst>
              <a:gd fmla="val 8014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9671090" y="5232440"/>
            <a:ext cx="2508171" cy="32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50"/>
              <a:buFont typeface="Marcellus"/>
              <a:buNone/>
            </a:pPr>
            <a:r>
              <a:rPr b="0" i="0" lang="en-US" sz="19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 Delegation</a:t>
            </a:r>
            <a:endParaRPr b="0" i="0" sz="195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9671090" y="5692735"/>
            <a:ext cx="3473887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Skilled forecasters capped at personal capital. Can't scale impact.</a:t>
            </a:r>
            <a:endParaRPr b="0" i="0" sz="135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1295519" y="6617018"/>
            <a:ext cx="12039243" cy="586145"/>
          </a:xfrm>
          <a:prstGeom prst="roundRect">
            <a:avLst>
              <a:gd fmla="val 12503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9946" y="6842403"/>
            <a:ext cx="218003" cy="17442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1862376" y="6794778"/>
            <a:ext cx="11297960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Result: Billions idle. Skill unrewarded.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677228" y="833676"/>
            <a:ext cx="5563195" cy="72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8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350"/>
              <a:buFont typeface="Marcellus"/>
              <a:buNone/>
            </a:pPr>
            <a:r>
              <a:rPr b="0" i="0" lang="en-US" sz="43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Solution</a:t>
            </a:r>
            <a:endParaRPr b="0" i="0" sz="43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77228" y="1622822"/>
            <a:ext cx="4746546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BeRight = Intelligence + Capital Layer</a:t>
            </a:r>
            <a:endParaRPr b="0" i="0" sz="21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677228" y="2231827"/>
            <a:ext cx="3812262" cy="2337554"/>
          </a:xfrm>
          <a:prstGeom prst="roundRect">
            <a:avLst>
              <a:gd fmla="val 347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893564" y="2448163"/>
            <a:ext cx="580430" cy="580430"/>
          </a:xfrm>
          <a:prstGeom prst="roundRect">
            <a:avLst>
              <a:gd fmla="val 1575226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108" y="2607707"/>
            <a:ext cx="261223" cy="26122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93564" y="3193613"/>
            <a:ext cx="2781538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Swipe-to-Predict</a:t>
            </a:r>
            <a:endParaRPr b="0" i="0" sz="215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893564" y="3654028"/>
            <a:ext cx="3379589" cy="699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30-second decisions with AI fact-check. Make predictions faster than the market moves.</a:t>
            </a:r>
            <a:endParaRPr b="0" i="0" sz="15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4654510" y="2231827"/>
            <a:ext cx="3812262" cy="2337554"/>
          </a:xfrm>
          <a:prstGeom prst="roundRect">
            <a:avLst>
              <a:gd fmla="val 347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870847" y="2448163"/>
            <a:ext cx="580430" cy="580430"/>
          </a:xfrm>
          <a:prstGeom prst="roundRect">
            <a:avLst>
              <a:gd fmla="val 1575226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0391" y="2607707"/>
            <a:ext cx="261223" cy="261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4870847" y="3193613"/>
            <a:ext cx="2781538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On-Chain Reputation</a:t>
            </a:r>
            <a:endParaRPr b="0" i="0" sz="21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4870847" y="3654028"/>
            <a:ext cx="3379589" cy="699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Brier scores on Solana—verifiable, immutable, portable across all platforms.</a:t>
            </a:r>
            <a:endParaRPr b="0" i="0" sz="15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677228" y="4734401"/>
            <a:ext cx="7789545" cy="1871543"/>
          </a:xfrm>
          <a:prstGeom prst="roundRect">
            <a:avLst>
              <a:gd fmla="val 434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893564" y="4950738"/>
            <a:ext cx="580430" cy="580430"/>
          </a:xfrm>
          <a:prstGeom prst="roundRect">
            <a:avLst>
              <a:gd fmla="val 1575226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3108" y="5110282"/>
            <a:ext cx="261223" cy="261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893564" y="5696188"/>
            <a:ext cx="2781538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Staking Pools</a:t>
            </a:r>
            <a:endParaRPr b="0" i="0" sz="215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893564" y="6156603"/>
            <a:ext cx="7356872" cy="23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Invest in forecasters, not predictions. Turn skill into capital.</a:t>
            </a:r>
            <a:endParaRPr b="0" i="0" sz="15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967383" y="6977182"/>
            <a:ext cx="7499390" cy="23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"Don't just say it. Bet it. Prove you're right."</a:t>
            </a:r>
            <a:endParaRPr b="0" i="0" sz="150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677228" y="6791563"/>
            <a:ext cx="22860" cy="604242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1669852" y="455771"/>
            <a:ext cx="5495092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700"/>
              <a:buFont typeface="Marcellus"/>
              <a:buNone/>
            </a:pPr>
            <a:r>
              <a:rPr b="0" i="0" lang="en-US" sz="37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Two Interfaces. One Edge.</a:t>
            </a:r>
            <a:endParaRPr b="0" i="0" sz="37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1669852" y="1794153"/>
            <a:ext cx="2822615" cy="36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Swipe (Mobile)</a:t>
            </a:r>
            <a:endParaRPr b="0" i="0" sz="2200" u="none" cap="none" strike="noStrike"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852" y="2293858"/>
            <a:ext cx="7199114" cy="401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1669852" y="6444615"/>
            <a:ext cx="7199114" cy="85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Market card appears instantly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AI fact-check in milliseconds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Swipe YES/NO decision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Aggregates 6+ platforms instantly</a:t>
            </a:r>
            <a:endParaRPr b="0" i="0" sz="125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9275683" y="1362313"/>
            <a:ext cx="2885122" cy="36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Terminal (Power Users)</a:t>
            </a:r>
            <a:endParaRPr b="0" i="0" sz="2200" u="none" cap="none" strike="noStrike"/>
          </a:p>
        </p:txBody>
      </p:sp>
      <p:pic>
        <p:nvPicPr>
          <p:cNvPr descr="preencoded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683" y="1862018"/>
            <a:ext cx="3692247" cy="4922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9275683" y="6917769"/>
            <a:ext cx="3692247" cy="814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"Find arbitrage" → Scout responds in &lt;2s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"How much to bet?" → Kelly-optimal sizing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50"/>
              <a:buFont typeface="Montserrat"/>
              <a:buChar char="•"/>
            </a:pPr>
            <a:r>
              <a:rPr b="0" i="0" lang="en-US" sz="12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Bloomberg Terminal in your pocket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793790" y="720447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Technology Stack</a:t>
            </a:r>
            <a:endParaRPr b="0" i="0" sz="51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793790" y="1658898"/>
            <a:ext cx="373725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Three-Layer Architecture</a:t>
            </a:r>
            <a:endParaRPr b="0" i="0" sz="25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1020604" y="2763083"/>
            <a:ext cx="226814" cy="1020604"/>
          </a:xfrm>
          <a:prstGeom prst="roundRect">
            <a:avLst>
              <a:gd fmla="val 4200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793790" y="2607112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930" y="2777252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1701046" y="264973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Interface Layer</a:t>
            </a:r>
            <a:endParaRPr b="0" i="0" sz="255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1701046" y="3209687"/>
            <a:ext cx="664916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Swipe, Terminal, Telegram bot</a:t>
            </a:r>
            <a:endParaRPr b="0" i="0" sz="175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1360765" y="4350782"/>
            <a:ext cx="226814" cy="1020604"/>
          </a:xfrm>
          <a:prstGeom prst="roundRect">
            <a:avLst>
              <a:gd fmla="val 4200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133951" y="4194810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092" y="436495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2041208" y="423743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AI Agents</a:t>
            </a:r>
            <a:endParaRPr b="0" i="0" sz="2550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2041208" y="4797385"/>
            <a:ext cx="630900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Scout, Analyst, Trader, xDegen</a:t>
            </a:r>
            <a:endParaRPr b="0" i="0" sz="175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1701046" y="5938480"/>
            <a:ext cx="226814" cy="1020604"/>
          </a:xfrm>
          <a:prstGeom prst="roundRect">
            <a:avLst>
              <a:gd fmla="val 4200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474232" y="5782508"/>
            <a:ext cx="680442" cy="680442"/>
          </a:xfrm>
          <a:prstGeom prst="roundRect">
            <a:avLst>
              <a:gd fmla="val 6719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44372" y="5952649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2381488" y="582513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On-Chain Layer</a:t>
            </a:r>
            <a:endParaRPr b="0" i="0" sz="25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2381488" y="6385084"/>
            <a:ext cx="596872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Solana PDAs, Brier commits, Staking pools</a:t>
            </a:r>
            <a:endParaRPr b="0" i="0" sz="175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93790" y="7214354"/>
            <a:ext cx="75564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Built with: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Next.js · Solana · Mistral/Claude · Jupiter · Jito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745808" y="761881"/>
            <a:ext cx="6126718" cy="796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0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800"/>
              <a:buFont typeface="Marcellus"/>
              <a:buNone/>
            </a:pPr>
            <a:r>
              <a:rPr b="0" i="0" lang="en-US" sz="48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Market Opportunity</a:t>
            </a:r>
            <a:endParaRPr b="0" i="0" sz="480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745808" y="1638300"/>
            <a:ext cx="5844540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$17.9B Monthly. Growing 9x Year-On-Year.</a:t>
            </a:r>
            <a:endParaRPr b="0" i="0" sz="2400" u="none" cap="none" strike="noStrike"/>
          </a:p>
        </p:txBody>
      </p:sp>
      <p:pic>
        <p:nvPicPr>
          <p:cNvPr descr="preencoded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808" y="2561868"/>
            <a:ext cx="8359140" cy="475151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9631442" y="2536865"/>
            <a:ext cx="3063359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Target Users</a:t>
            </a:r>
            <a:endParaRPr b="0" i="0" sz="240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9631442" y="3135154"/>
            <a:ext cx="4260652" cy="945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Char char="•"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Traders needing alpha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Char char="•"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Forecasters monetising skill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Char char="•"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Allocators seeking exposure</a:t>
            </a:r>
            <a:endParaRPr b="0" i="0" sz="165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9631442" y="4261128"/>
            <a:ext cx="4260652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Positioning: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aiXBT for prediction markets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691396" y="751046"/>
            <a:ext cx="5679758" cy="738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Business Model</a:t>
            </a:r>
            <a:endParaRPr b="0" i="0" sz="445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691396" y="1558171"/>
            <a:ext cx="3007995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Three Revenue Streams</a:t>
            </a:r>
            <a:endParaRPr b="0" i="0" sz="220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691396" y="2185273"/>
            <a:ext cx="4301133" cy="1153239"/>
          </a:xfrm>
          <a:prstGeom prst="roundRect">
            <a:avLst>
              <a:gd fmla="val 719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911781" y="2405658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SaaS Tiers</a:t>
            </a:r>
            <a:endParaRPr b="0" i="0" sz="22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911781" y="2877979"/>
            <a:ext cx="3860363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Free · $9.99 Pro · $49.99 Whale</a:t>
            </a:r>
            <a:endParaRPr b="0" i="0" sz="15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5164574" y="2185273"/>
            <a:ext cx="4301133" cy="1153239"/>
          </a:xfrm>
          <a:prstGeom prst="roundRect">
            <a:avLst>
              <a:gd fmla="val 719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384959" y="2405658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Protocol Fees</a:t>
            </a:r>
            <a:endParaRPr b="0" i="0" sz="220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5384959" y="2877979"/>
            <a:ext cx="3860363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20% performance · 2% management</a:t>
            </a:r>
            <a:endParaRPr b="0" i="0" sz="155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9637752" y="2185273"/>
            <a:ext cx="4301133" cy="1153239"/>
          </a:xfrm>
          <a:prstGeom prst="roundRect">
            <a:avLst>
              <a:gd fmla="val 719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9858137" y="2405658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Data Licensing</a:t>
            </a:r>
            <a:endParaRPr b="0" i="0" sz="220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9858137" y="2877979"/>
            <a:ext cx="3860363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API to institutions</a:t>
            </a:r>
            <a:endParaRPr b="0" i="0" sz="155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1612583" y="4815959"/>
            <a:ext cx="2429828" cy="493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850"/>
              <a:buFont typeface="Marcellus"/>
              <a:buNone/>
            </a:pPr>
            <a:r>
              <a:rPr b="0" i="0" lang="en-US" sz="3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12:1</a:t>
            </a:r>
            <a:endParaRPr b="0" i="0" sz="3850" u="none" cap="none" strike="noStrike"/>
          </a:p>
        </p:txBody>
      </p:sp>
      <p:pic>
        <p:nvPicPr>
          <p:cNvPr descr="preencoded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5883" y="3581281"/>
            <a:ext cx="2963347" cy="29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1407676" y="6765965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LTV:CAC Ratio</a:t>
            </a:r>
            <a:endParaRPr b="0" i="0" sz="22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691396" y="7238286"/>
            <a:ext cx="4272439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Unit economics</a:t>
            </a:r>
            <a:endParaRPr b="0" i="0" sz="15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6100167" y="4815959"/>
            <a:ext cx="2429828" cy="493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850"/>
              <a:buFont typeface="Marcellus"/>
              <a:buNone/>
            </a:pPr>
            <a:r>
              <a:rPr b="0" i="0" lang="en-US" sz="3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$15</a:t>
            </a:r>
            <a:endParaRPr b="0" i="0" sz="3850" u="none" cap="none" strike="noStrike"/>
          </a:p>
        </p:txBody>
      </p:sp>
      <p:pic>
        <p:nvPicPr>
          <p:cNvPr descr="preencoded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467" y="3581281"/>
            <a:ext cx="2963347" cy="29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5895142" y="6765965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CAC</a:t>
            </a:r>
            <a:endParaRPr b="0" i="0" sz="220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5178862" y="7238286"/>
            <a:ext cx="4272558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Customer acquisition</a:t>
            </a:r>
            <a:endParaRPr b="0" i="0" sz="155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10587752" y="4815959"/>
            <a:ext cx="2429828" cy="493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850"/>
              <a:buFont typeface="Marcellus"/>
              <a:buNone/>
            </a:pPr>
            <a:r>
              <a:rPr b="0" i="0" lang="en-US" sz="3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$180</a:t>
            </a:r>
            <a:endParaRPr b="0" i="0" sz="3850" u="none" cap="none" strike="noStrike"/>
          </a:p>
        </p:txBody>
      </p:sp>
      <p:pic>
        <p:nvPicPr>
          <p:cNvPr descr="preencoded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1052" y="3581281"/>
            <a:ext cx="2963347" cy="29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/>
          <p:nvPr/>
        </p:nvSpPr>
        <p:spPr>
          <a:xfrm>
            <a:off x="10382726" y="6765965"/>
            <a:ext cx="2839879" cy="369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LTV</a:t>
            </a:r>
            <a:endParaRPr b="0" i="0" sz="220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9666446" y="7238286"/>
            <a:ext cx="4272558" cy="24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35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Lifetime value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542568" y="804505"/>
            <a:ext cx="4457581" cy="579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500"/>
              <a:buFont typeface="Marcellus"/>
              <a:buNone/>
            </a:pPr>
            <a:r>
              <a:rPr b="0" i="0" lang="en-US" sz="35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Traction</a:t>
            </a:r>
            <a:endParaRPr b="0" i="0" sz="3500" u="none" cap="none" strike="noStrike"/>
          </a:p>
        </p:txBody>
      </p:sp>
      <p:sp>
        <p:nvSpPr>
          <p:cNvPr id="197" name="Google Shape;197;p20"/>
          <p:cNvSpPr/>
          <p:nvPr/>
        </p:nvSpPr>
        <p:spPr>
          <a:xfrm>
            <a:off x="542568" y="1426369"/>
            <a:ext cx="2344698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Live on Solana Mainnet</a:t>
            </a:r>
            <a:endParaRPr b="0" i="0" sz="1750" u="none" cap="none" strike="noStrike"/>
          </a:p>
        </p:txBody>
      </p:sp>
      <p:sp>
        <p:nvSpPr>
          <p:cNvPr id="198" name="Google Shape;198;p20"/>
          <p:cNvSpPr/>
          <p:nvPr/>
        </p:nvSpPr>
        <p:spPr>
          <a:xfrm>
            <a:off x="542568" y="1874996"/>
            <a:ext cx="155019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arcellus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200" u="none" cap="none" strike="noStrike"/>
          </a:p>
        </p:txBody>
      </p:sp>
      <p:sp>
        <p:nvSpPr>
          <p:cNvPr id="199" name="Google Shape;199;p20"/>
          <p:cNvSpPr/>
          <p:nvPr/>
        </p:nvSpPr>
        <p:spPr>
          <a:xfrm>
            <a:off x="542568" y="2123242"/>
            <a:ext cx="8058864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42568" y="2246471"/>
            <a:ext cx="2228731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Swipe UI</a:t>
            </a:r>
            <a:endParaRPr b="0" i="0" sz="1750" u="none" cap="none" strike="noStrike"/>
          </a:p>
        </p:txBody>
      </p:sp>
      <p:sp>
        <p:nvSpPr>
          <p:cNvPr id="201" name="Google Shape;201;p20"/>
          <p:cNvSpPr/>
          <p:nvPr/>
        </p:nvSpPr>
        <p:spPr>
          <a:xfrm>
            <a:off x="542568" y="2599730"/>
            <a:ext cx="805886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Live</a:t>
            </a:r>
            <a:endParaRPr b="0" i="0" sz="1200" u="none" cap="none" strike="noStrike"/>
          </a:p>
        </p:txBody>
      </p:sp>
      <p:sp>
        <p:nvSpPr>
          <p:cNvPr id="202" name="Google Shape;202;p20"/>
          <p:cNvSpPr/>
          <p:nvPr/>
        </p:nvSpPr>
        <p:spPr>
          <a:xfrm>
            <a:off x="542568" y="2991445"/>
            <a:ext cx="155019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arcellus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20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542568" y="3239691"/>
            <a:ext cx="8058864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42568" y="3362920"/>
            <a:ext cx="2228731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Multi-Agent Terminal</a:t>
            </a:r>
            <a:endParaRPr b="0" i="0" sz="175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542568" y="3716179"/>
            <a:ext cx="805886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Live</a:t>
            </a:r>
            <a:endParaRPr b="0" i="0" sz="120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542568" y="4107894"/>
            <a:ext cx="155019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arcellus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2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542568" y="4356140"/>
            <a:ext cx="8058864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42568" y="4479369"/>
            <a:ext cx="2228731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Jupiter Integration</a:t>
            </a:r>
            <a:endParaRPr b="0" i="0" sz="175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542568" y="4832628"/>
            <a:ext cx="805886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Production</a:t>
            </a:r>
            <a:endParaRPr b="0" i="0" sz="120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542568" y="5224343"/>
            <a:ext cx="155019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arcellus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2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542568" y="5472589"/>
            <a:ext cx="8058864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42568" y="5595818"/>
            <a:ext cx="2228731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Staking Contracts</a:t>
            </a:r>
            <a:endParaRPr b="0" i="0" sz="1750" u="none" cap="none" strike="noStrike"/>
          </a:p>
        </p:txBody>
      </p:sp>
      <p:sp>
        <p:nvSpPr>
          <p:cNvPr id="213" name="Google Shape;213;p20"/>
          <p:cNvSpPr/>
          <p:nvPr/>
        </p:nvSpPr>
        <p:spPr>
          <a:xfrm>
            <a:off x="542568" y="5949077"/>
            <a:ext cx="8058864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Deployed</a:t>
            </a:r>
            <a:endParaRPr b="0" i="0" sz="120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542568" y="6393775"/>
            <a:ext cx="2228731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Growth Channels</a:t>
            </a:r>
            <a:endParaRPr b="0" i="0" sz="1750" u="none" cap="none" strike="noStrike"/>
          </a:p>
        </p:txBody>
      </p:sp>
      <p:sp>
        <p:nvSpPr>
          <p:cNvPr id="215" name="Google Shape;215;p20"/>
          <p:cNvSpPr/>
          <p:nvPr/>
        </p:nvSpPr>
        <p:spPr>
          <a:xfrm>
            <a:off x="542568" y="6842403"/>
            <a:ext cx="8058864" cy="58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Char char="•"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Twitter alpha dissemination</a:t>
            </a:r>
            <a:endParaRPr b="0" i="0" sz="1200" u="none" cap="none" strike="noStrike"/>
          </a:p>
          <a:p>
            <a:pPr indent="-342900" lvl="0" marL="3429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Char char="•"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Competitions and leaderboards</a:t>
            </a:r>
            <a:endParaRPr b="0" i="0" sz="1200" u="none" cap="none" strike="noStrike"/>
          </a:p>
          <a:p>
            <a:pPr indent="-342900" lvl="0" marL="3429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200"/>
              <a:buFont typeface="Montserrat"/>
              <a:buChar char="•"/>
            </a:pPr>
            <a:r>
              <a:rPr b="0" i="0" lang="en-US" sz="12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Viral prediction cards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6280190" y="98917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Roadmap</a:t>
            </a:r>
            <a:endParaRPr b="0" i="0" sz="510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6535341" y="2177058"/>
            <a:ext cx="30480" cy="506325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760012" y="2416969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280190" y="217705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6339721" y="2177891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3050" u="none" cap="none" strike="noStrike"/>
          </a:p>
        </p:txBody>
      </p:sp>
      <p:sp>
        <p:nvSpPr>
          <p:cNvPr id="227" name="Google Shape;227;p21"/>
          <p:cNvSpPr/>
          <p:nvPr/>
        </p:nvSpPr>
        <p:spPr>
          <a:xfrm>
            <a:off x="7669411" y="22479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Now</a:t>
            </a:r>
            <a:endParaRPr b="0" i="0" sz="2550" u="none" cap="none" strike="noStrike"/>
          </a:p>
        </p:txBody>
      </p:sp>
      <p:sp>
        <p:nvSpPr>
          <p:cNvPr id="228" name="Google Shape;228;p21"/>
          <p:cNvSpPr/>
          <p:nvPr/>
        </p:nvSpPr>
        <p:spPr>
          <a:xfrm>
            <a:off x="7669411" y="2807851"/>
            <a:ext cx="61671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Swipe + Terminal + Jupiter live</a:t>
            </a:r>
            <a:endParaRPr b="0" i="0" sz="175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6760012" y="3796189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280190" y="355627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339721" y="3557111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3050" u="none" cap="none" strike="noStrike"/>
          </a:p>
        </p:txBody>
      </p:sp>
      <p:sp>
        <p:nvSpPr>
          <p:cNvPr id="232" name="Google Shape;232;p21"/>
          <p:cNvSpPr/>
          <p:nvPr/>
        </p:nvSpPr>
        <p:spPr>
          <a:xfrm>
            <a:off x="7669411" y="362712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Q3 2026</a:t>
            </a:r>
            <a:endParaRPr b="0" i="0" sz="2550" u="none" cap="none" strike="noStrike"/>
          </a:p>
        </p:txBody>
      </p:sp>
      <p:sp>
        <p:nvSpPr>
          <p:cNvPr id="233" name="Google Shape;233;p21"/>
          <p:cNvSpPr/>
          <p:nvPr/>
        </p:nvSpPr>
        <p:spPr>
          <a:xfrm>
            <a:off x="7669411" y="4187071"/>
            <a:ext cx="61671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Staking pools · Mobile app · API</a:t>
            </a:r>
            <a:endParaRPr b="0" i="0" sz="175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6760012" y="5175409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6280190" y="493549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6339721" y="4936331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3050" u="none" cap="none" strike="noStrike"/>
          </a:p>
        </p:txBody>
      </p:sp>
      <p:sp>
        <p:nvSpPr>
          <p:cNvPr id="237" name="Google Shape;237;p21"/>
          <p:cNvSpPr/>
          <p:nvPr/>
        </p:nvSpPr>
        <p:spPr>
          <a:xfrm>
            <a:off x="7669411" y="500634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Q4 2026</a:t>
            </a:r>
            <a:endParaRPr b="0" i="0" sz="2550" u="none" cap="none" strike="noStrike"/>
          </a:p>
        </p:txBody>
      </p:sp>
      <p:sp>
        <p:nvSpPr>
          <p:cNvPr id="238" name="Google Shape;238;p21"/>
          <p:cNvSpPr/>
          <p:nvPr/>
        </p:nvSpPr>
        <p:spPr>
          <a:xfrm>
            <a:off x="7669411" y="5566291"/>
            <a:ext cx="61671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Reputation aggregation · Governance token</a:t>
            </a:r>
            <a:endParaRPr b="0" i="0" sz="1750" u="none" cap="none" strike="noStrike"/>
          </a:p>
        </p:txBody>
      </p:sp>
      <p:sp>
        <p:nvSpPr>
          <p:cNvPr id="239" name="Google Shape;239;p21"/>
          <p:cNvSpPr/>
          <p:nvPr/>
        </p:nvSpPr>
        <p:spPr>
          <a:xfrm>
            <a:off x="6760012" y="6554629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6280190" y="631471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6339721" y="6315551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3050" u="none" cap="none" strike="noStrike"/>
          </a:p>
        </p:txBody>
      </p:sp>
      <p:sp>
        <p:nvSpPr>
          <p:cNvPr id="242" name="Google Shape;242;p21"/>
          <p:cNvSpPr/>
          <p:nvPr/>
        </p:nvSpPr>
        <p:spPr>
          <a:xfrm>
            <a:off x="7669411" y="638556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2027</a:t>
            </a:r>
            <a:endParaRPr b="0" i="0" sz="255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7669411" y="6945511"/>
            <a:ext cx="61671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Enterprise · Global expansion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793790" y="1019889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Team &amp; Ask</a:t>
            </a:r>
            <a:endParaRPr b="0" i="0" sz="5100" u="none" cap="none" strike="noStrike"/>
          </a:p>
        </p:txBody>
      </p:sp>
      <p:sp>
        <p:nvSpPr>
          <p:cNvPr id="250" name="Google Shape;250;p22"/>
          <p:cNvSpPr/>
          <p:nvPr/>
        </p:nvSpPr>
        <p:spPr>
          <a:xfrm>
            <a:off x="793790" y="195834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Team</a:t>
            </a:r>
            <a:endParaRPr b="0" i="0" sz="2550" u="none" cap="none" strike="noStrike"/>
          </a:p>
        </p:txBody>
      </p:sp>
      <p:sp>
        <p:nvSpPr>
          <p:cNvPr id="251" name="Google Shape;251;p22"/>
          <p:cNvSpPr/>
          <p:nvPr/>
        </p:nvSpPr>
        <p:spPr>
          <a:xfrm>
            <a:off x="793790" y="2722364"/>
            <a:ext cx="13042821" cy="668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Crypto/AI/Prediction markets background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Superteam hackathon experience</a:t>
            </a:r>
            <a:endParaRPr b="0" i="0" sz="1750" u="none" cap="none" strike="noStrike"/>
          </a:p>
        </p:txBody>
      </p:sp>
      <p:sp>
        <p:nvSpPr>
          <p:cNvPr id="252" name="Google Shape;252;p22"/>
          <p:cNvSpPr/>
          <p:nvPr/>
        </p:nvSpPr>
        <p:spPr>
          <a:xfrm>
            <a:off x="793790" y="373141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Raising: Seed Round</a:t>
            </a:r>
            <a:endParaRPr b="0" i="0" sz="2550" u="none" cap="none" strike="noStrike"/>
          </a:p>
        </p:txBody>
      </p:sp>
      <p:sp>
        <p:nvSpPr>
          <p:cNvPr id="253" name="Google Shape;253;p22"/>
          <p:cNvSpPr/>
          <p:nvPr/>
        </p:nvSpPr>
        <p:spPr>
          <a:xfrm>
            <a:off x="793790" y="4608790"/>
            <a:ext cx="3355658" cy="283488"/>
          </a:xfrm>
          <a:prstGeom prst="roundRect">
            <a:avLst>
              <a:gd fmla="val 33606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793790" y="4608790"/>
            <a:ext cx="2013347" cy="283488"/>
          </a:xfrm>
          <a:prstGeom prst="roundRect">
            <a:avLst>
              <a:gd fmla="val 3360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4319468" y="4608790"/>
            <a:ext cx="632936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60%</a:t>
            </a:r>
            <a:endParaRPr b="0" i="0" sz="220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793790" y="517564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Engineering</a:t>
            </a:r>
            <a:endParaRPr b="0" i="0" sz="255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5235893" y="4608790"/>
            <a:ext cx="3459480" cy="283488"/>
          </a:xfrm>
          <a:prstGeom prst="roundRect">
            <a:avLst>
              <a:gd fmla="val 33606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235893" y="4608790"/>
            <a:ext cx="864870" cy="283488"/>
          </a:xfrm>
          <a:prstGeom prst="roundRect">
            <a:avLst>
              <a:gd fmla="val 3360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8865394" y="4608790"/>
            <a:ext cx="5291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25%</a:t>
            </a:r>
            <a:endParaRPr b="0" i="0" sz="2200" u="none" cap="none" strike="noStrike"/>
          </a:p>
        </p:txBody>
      </p:sp>
      <p:sp>
        <p:nvSpPr>
          <p:cNvPr id="260" name="Google Shape;260;p22"/>
          <p:cNvSpPr/>
          <p:nvPr/>
        </p:nvSpPr>
        <p:spPr>
          <a:xfrm>
            <a:off x="5235893" y="517564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Growth</a:t>
            </a:r>
            <a:endParaRPr b="0" i="0" sz="2550" u="none" cap="none" strike="noStrike"/>
          </a:p>
        </p:txBody>
      </p:sp>
      <p:sp>
        <p:nvSpPr>
          <p:cNvPr id="261" name="Google Shape;261;p22"/>
          <p:cNvSpPr/>
          <p:nvPr/>
        </p:nvSpPr>
        <p:spPr>
          <a:xfrm>
            <a:off x="9677995" y="4608790"/>
            <a:ext cx="3526631" cy="283488"/>
          </a:xfrm>
          <a:prstGeom prst="roundRect">
            <a:avLst>
              <a:gd fmla="val 33606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9677995" y="4608790"/>
            <a:ext cx="528995" cy="283488"/>
          </a:xfrm>
          <a:prstGeom prst="roundRect">
            <a:avLst>
              <a:gd fmla="val 33606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3374648" y="4608790"/>
            <a:ext cx="461963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15%</a:t>
            </a:r>
            <a:endParaRPr b="0" i="0" sz="2200" u="none" cap="none" strike="noStrike"/>
          </a:p>
        </p:txBody>
      </p:sp>
      <p:sp>
        <p:nvSpPr>
          <p:cNvPr id="264" name="Google Shape;264;p22"/>
          <p:cNvSpPr/>
          <p:nvPr/>
        </p:nvSpPr>
        <p:spPr>
          <a:xfrm>
            <a:off x="9677995" y="517564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Operations</a:t>
            </a:r>
            <a:endParaRPr b="0" i="0" sz="2550" u="none" cap="none" strike="noStrike"/>
          </a:p>
        </p:txBody>
      </p:sp>
      <p:sp>
        <p:nvSpPr>
          <p:cNvPr id="265" name="Google Shape;265;p22"/>
          <p:cNvSpPr/>
          <p:nvPr/>
        </p:nvSpPr>
        <p:spPr>
          <a:xfrm>
            <a:off x="1133951" y="6109811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"The winners build the intelligence layer that makes forecasting skill tradeable. </a:t>
            </a:r>
            <a:r>
              <a:rPr b="1" i="0" lang="en-US" sz="17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BeRight is that layer.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0" i="0" sz="175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793790" y="5854660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793790" y="6914912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Demo: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beright.ai |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Twitter: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@beright_ai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